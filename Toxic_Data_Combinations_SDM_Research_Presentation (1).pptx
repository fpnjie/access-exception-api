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asset generated for this deck. Research references summarized throughout and listed in final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research deck uses the user-provided classification table image as an enterprise taxonomy example and cross-walks it against NIST, HHS, PCI SSC, GDPR, CISA, Microsoft Purview, Google Sensitive Data Protection, and OWASP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SP 800-122 provides practical, context-based guidance for identifying PII and determining appropriate protection level. Source: https://csrc.nist.gov/pubs/sp/800/122/final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source: user-provided screenshot of single-search results for the classification matrix. Visible fields include Data Element, Data Grouping, PD, EPD, PII, PHI, PCI, Prop Info, Restricted, Confidential, 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from user-provided image and industry classification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NIST SP 800-122; HHS HIPAA de-identification guidance; PCI SSC PCI DSS v4.0.1; GDPR Article 9; CISA Zero Trust Maturity Model v2.0; Microsoft Purview data classification overview; Google Sensitive Data Protection documentation; OWASP Top 10 for LLM Applications and NIST AI RMF.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taxonomy from NIST PII context-based risk, HHS HIPAA identifiers, PCI DSS account data scope, GDPR special category data, and common DLP/SDM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rows read from the user-provided image. Some category/classification values are visible in the screenshot; validate against source CSV before production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is a draft risk model derived from the user-provided taxonomy and industry control anchors. Validate with legal, privacy, fraud, and business data-owner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Zero Trust Maturity Model emphasizes data categorization and automation. Microsoft Purview and Google Sensitive Data Protection provide examples of classification/detection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Purview documentation describes manual classification, automated pattern matching, and trainable classifiers. Google Sensitive Data Protection describes infoType detectors, regex, dictionaries, and structured text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patterns align to NIST SP 800-122 confidentiality guidance, PCI DSS account-data protection, HIPAA de-identification, CISA Zero Trust data categorization/response automation, and DLP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AI RMF highlights privacy/security risks related to underlying data and AI systems. OWASP LLM guidance identifies sensitive information disclosure risks and training-data leakage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used in research: https://csrc.nist.gov/pubs/sp/800/122/final ; https://www.nist.gov/privacy-framework ; https://www.nist.gov/itl/ai-risk-management-framework ; https://www.hhs.gov/hipaa/for-professionals/privacy/special-topics/de-identification/index.html ; https://www.pcisecuritystandards.org/standards/pci-dss/ ; https://gdpr-info.eu/art-9-gdpr/ ; https://ico.org.uk/for-organisations/uk-gdpr-guidance-and-resources/ ; https://www.cisa.gov/resources-tools/resources/zero-trust-maturity-model ; https://learn.microsoft.com/en-us/purview/data-classification-overview ; https://docs.cloud.google.com/sensitive-data-protection/docs/concepts-infotypes ; https://genai.owasp.org/llmrisk/llm02-insecure-output-handling/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dark_blue_technological_abstra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713232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85D75">
              <a:alpha val="95000"/>
            </a:srgbClr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763524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RESEARCH DECK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640080" y="1261872"/>
            <a:ext cx="5577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 Data Combinations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67512" y="1984248"/>
            <a:ext cx="5120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How toxic pairs turn ordinary data elements into high-risk sensitive data exposures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278892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Sensitive Data Management • Data Classification • AI/ML Detection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7512" y="610819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Prepared for enterprise information security and data governance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toxic pair is not just a sensitive value; it is a risky relationship between data elements, context, access, and intended use.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2971800" cy="12344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2FF"/>
                </a:solidFill>
              </a:rPr>
              <a:t>Data elements that appear safe alone can identify, authenticate, profile, or harm a person or business when combined.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2971800" cy="123444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SDM response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2FF"/>
                </a:solidFill>
              </a:rPr>
              <a:t>Classify at the element level, then apply context-aware uplift when toxic combinations appear in the same row, document, table, model, report, or workflow.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2971800" cy="1234440"/>
          </a:xfrm>
          <a:prstGeom prst="chevron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 needed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6676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AF2FF"/>
                </a:solidFill>
              </a:rPr>
              <a:t>Move from static labels to a combination-aware control engine that can detect toxic pairs, score risk, and trigger protection automatically.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051560" y="3529584"/>
            <a:ext cx="9829800" cy="1371600"/>
          </a:xfrm>
          <a:prstGeom prst="arc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Element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Combination logic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3832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Risk decision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73568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Control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04120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Evidence &amp; 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160520"/>
            <a:ext cx="585216" cy="585216"/>
          </a:xfrm>
          <a:prstGeom prst="ellipse">
            <a:avLst/>
          </a:prstGeom>
          <a:solidFill>
            <a:srgbClr val="1D4ED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3592" y="4160520"/>
            <a:ext cx="585216" cy="585216"/>
          </a:xfrm>
          <a:prstGeom prst="ellipse">
            <a:avLst/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160520"/>
            <a:ext cx="585216" cy="585216"/>
          </a:xfrm>
          <a:prstGeom prst="ellipse">
            <a:avLst/>
          </a:prstGeom>
          <a:solidFill>
            <a:srgbClr val="FFB70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31352" y="4160520"/>
            <a:ext cx="585216" cy="585216"/>
          </a:xfrm>
          <a:prstGeom prst="ellipse">
            <a:avLst/>
          </a:prstGeom>
          <a:solidFill>
            <a:srgbClr val="E85D7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88752" y="4160520"/>
            <a:ext cx="585216" cy="585216"/>
          </a:xfrm>
          <a:prstGeom prst="ellipse">
            <a:avLst/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toxic combinations matter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risk is created by linkage. Static labels miss escalation when multiple low-risk values become identifying, exploitable, or regulated together.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Single element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9222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Often classed as Internal or Confidential depending on context.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50592"/>
            <a:ext cx="6766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Age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737360" y="237744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2450592"/>
            <a:ext cx="6766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ZIP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697480" y="2377440"/>
            <a:ext cx="91440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450592"/>
            <a:ext cx="7680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Gender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3913632" y="2542032"/>
            <a:ext cx="10972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Joined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3208" y="179222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 become unique, regulated, high-value, or actionable.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0368" y="2377440"/>
            <a:ext cx="804672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450592"/>
            <a:ext cx="6583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Age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6163056" y="2377440"/>
            <a:ext cx="1024128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450592"/>
            <a:ext cx="877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Address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315200" y="2377440"/>
            <a:ext cx="969264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245059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Income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412480" y="2377440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2450592"/>
            <a:ext cx="9966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Member ID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1083564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The toxic-pair test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</a:rPr>
              <a:t>Does the combination identify, authenticate, locate, profile, or financially/medically expose a person?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</a:rPr>
              <a:t>Does it create a legal, fraud, business, competitive, safety, or model-disclosure risk?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</a:rPr>
              <a:t>Would access, sharing, retention, training, export, or downstream analytics be unacceptable without a stronger control?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Industry anchor: NIST treats PII risk as context-based, not purely field-name-based.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baseline: your classification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provided image shows a data-element catalog with 267 rows, data groupings, sensitivity categories, and classification columns.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pic>
        <p:nvPicPr>
          <p:cNvPr id="5" name="Image 0" descr="/mnt/data/CAF3ED48-825B-4061-A4B4-8EB424A0646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17702"/>
            <a:ext cx="7223760" cy="36683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73568" y="1481328"/>
            <a:ext cx="3520440" cy="3822192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783080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What the matrix already gives you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2221992"/>
            <a:ext cx="28346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</a:rPr>
              <a:t>Canonical data element names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Business context via data grouping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Category tags: PD, EPD, PII, PHI, PCI, Prop Info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Protection labels: Restricted, Confidential, Internal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Dependent values that need context-aware uplift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8229600" y="4279392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E85D75"/>
                </a:solidFill>
              </a:rPr>
              <a:t>Key research implication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229600" y="4572000"/>
            <a:ext cx="27432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The “Dependent” values are where toxic-pair logic becomes most valuable. They are not weak data, they are conditional data.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the matrix as an SDM taxonomy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columns form a practical metadata model for element-level classification and combination-level escalation.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09344"/>
            <a:ext cx="0" cy="438912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Data Element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The atomic value or field name: Account Balance, Age, Application Source Code, Arrangement ID.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95528" y="2359152"/>
            <a:ext cx="0" cy="43891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Data Grouping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2212848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Business domain that creates context: Personal Financial Information, Online/Digital Identifiers, Intellectual Property.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95528" y="3108960"/>
            <a:ext cx="0" cy="438912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6265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Categories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962656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Regulatory or risk lenses: PD, EPD, PII, PHI, PCI, Proprietary Information.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95528" y="3858768"/>
            <a:ext cx="0" cy="438912"/>
          </a:xfrm>
          <a:prstGeom prst="line">
            <a:avLst/>
          </a:prstGeom>
          <a:noFill/>
          <a:ln w="38100">
            <a:solidFill>
              <a:srgbClr val="E85D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12464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Classifications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3712464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Handling tier: Restricted, Confidential, Internal.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95528" y="4608576"/>
            <a:ext cx="0" cy="43891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Dependent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4462272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A conditional signal that becomes sensitive based on relationship, linkage, population, or use.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3564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87568"/>
            <a:ext cx="10241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020"/>
                </a:solidFill>
              </a:rPr>
              <a:t>Recommended interpretation: keep the catalog as the source of truth, then add a second table for toxic-combination rules and scoring.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research anchors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Toxic-pair analysis aligns with privacy, payment, healthcare, zero trust, DLP, and AI-risk guidance.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914400" cy="804672"/>
          </a:xfrm>
          <a:prstGeom prst="hexag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NIST PII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82880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Context-based PII identification and protection.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566160" y="1600200"/>
            <a:ext cx="914400" cy="804672"/>
          </a:xfrm>
          <a:prstGeom prst="hexagon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HIPAA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177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18 identifiers and de-identification safe harbor.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914400" cy="804672"/>
          </a:xfrm>
          <a:prstGeom prst="hexagon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PCI DSS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40664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CHD/SAD protection for payment ecosystems.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144000" y="1600200"/>
            <a:ext cx="914400" cy="804672"/>
          </a:xfrm>
          <a:prstGeom prst="hexagon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9556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GDPR/UK GDPR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019556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Special category personal data and lawful basis.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508760" y="3840480"/>
            <a:ext cx="914400" cy="804672"/>
          </a:xfrm>
          <a:prstGeom prst="hexagon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708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CISA ZT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56032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Data categorization, tagging, and automation in zero trust.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914400" cy="804672"/>
          </a:xfrm>
          <a:prstGeom prst="hexagon">
            <a:avLst/>
          </a:prstGeom>
          <a:solidFill>
            <a:srgbClr val="00A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Purview / Google SDP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71500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Pattern, dictionary, trainable, and infoType detection.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818120" y="3840480"/>
            <a:ext cx="914400" cy="804672"/>
          </a:xfrm>
          <a:prstGeom prst="hexagon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644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OWASP / NIST AI RMF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86968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Sensitive disclosure and training-data privacy risk.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64748B"/>
                </a:solidFill>
              </a:rPr>
              <a:t>Use these as control mapping references, not as substitutes for legal review or internal policy.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Definition: toxic combination / toxic pair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toxic combination is a set of data elements whose combined meaning, linkage power, or abuse potential exceeds the risk of each individual element.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6304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Toxic when it enables: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30175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40" dirty="0">
                <a:solidFill>
                  <a:srgbClr val="334155"/>
                </a:solidFill>
              </a:rPr>
              <a:t>Identification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Authentication or account access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Financial or medical exposure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Sensitive profiling or discrimination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Business, IP, or operational compromise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983480" y="2880360"/>
            <a:ext cx="685800" cy="685800"/>
          </a:xfrm>
          <a:prstGeom prst="plus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08760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64208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D4ED8"/>
                </a:solidFill>
              </a:rPr>
              <a:t>Data elements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909560" y="1627632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Names, identifiers, credentials, balances, income, health, source code, locations.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2862072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17520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4B8A6"/>
                </a:solidFill>
              </a:rPr>
              <a:t>Context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7909560" y="2980944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Same row, same customer, same report, same system, same model training set.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4215384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370832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E85D75"/>
                </a:solidFill>
              </a:rPr>
              <a:t>Use case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7909560" y="4334256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Export, model training, sharing, analytics, access review, production troubleshooting.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560527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742432"/>
            <a:ext cx="4297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Policy output: elevate, restrict, tokenize, mask, block, approve, or monitor.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Toxic-combination taxonomy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Classify combinations by abuse path. This makes rules easier to explain, test, and audit.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214884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70632" y="1417320"/>
            <a:ext cx="393192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Typical ingredients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2552" y="1417320"/>
            <a:ext cx="384048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0632" y="1719072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719072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901952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Identity linkage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852928" y="1837944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Name, address, DOB, phone, email, government ID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784848" y="1837944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Re-identification, fraud, privacy breach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" y="2432304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0632" y="2432304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2432304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615184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Credential takeover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852928" y="2551176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User ID, password, PIN, security Q&amp;A, MFA metadata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784848" y="2551176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Account access, data exfiltration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21792" y="3145536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0632" y="3145536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3145536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328416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Financial harm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2852928" y="3264408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Account balance, income, account number, routing, payment card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784848" y="3264408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Theft, extortion, profiling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21792" y="3858768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70632" y="3858768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02552" y="3858768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041648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Health exposure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2852928" y="3977640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Diagnosis, treatment, claim, MRN, member ID, provider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784848" y="3977640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HIPAA/privacy breach, harm to individual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21792" y="4572000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0632" y="4572000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02552" y="4572000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754880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Behavioral profiling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2852928" y="4690872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Location, device, transaction, browsing, call metadata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784848" y="4690872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Tracking, inference, targeting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21792" y="5285232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70632" y="5285232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2552" y="5285232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5468112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020"/>
                </a:solidFill>
              </a:rPr>
              <a:t>Proprietary compromise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2852928" y="5404104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Source code, API keys, configs, financial statements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6784848" y="5404104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IP loss, supply-chain compromise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from the provided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Visible rows show several fields that are safe only with the right context and control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2704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Account Passwords / PIN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127248" y="1527048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Online / Digital Identifiers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5212080" y="1527048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+ PII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6967728" y="1527048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85D75"/>
                </a:solidFill>
              </a:rPr>
              <a:t>Restricted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119872" y="1499616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username, account ID, device ID, recovery email.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66928" y="2130552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40280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Alien Registration Number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127248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Government-issued Identifiers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+ PII + PHI dependent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967728" y="2240280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85D75"/>
                </a:solidFill>
              </a:rPr>
              <a:t>Restricted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119872" y="2212848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name, DOB, address, employer, benefits record.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566928" y="2843784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53512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Account Balance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127248" y="2953512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Personal Financial Information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212080" y="2953512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dependent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6967728" y="2953512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119872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member identity, account number, income, fraud notes.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566928" y="3557016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Application Source Code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127248" y="3666744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Intellectual Property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5212080" y="3666744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Prop Info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967728" y="3666744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B703"/>
                </a:solidFill>
              </a:rPr>
              <a:t>Confidential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119872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secrets, credentials, architecture, vulnerability details.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566928" y="4270248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379976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Arrangement ID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127248" y="4379976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Enterprise-issued Identifier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212080" y="4379976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PII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967728" y="4379976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119872" y="4352544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when joinable to customer, account, claim, or transaction.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566928" y="4983480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09320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Automatic Number Identification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127248" y="5093208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Third Party Information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212080" y="5093208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4B8A6"/>
                </a:solidFill>
              </a:rPr>
              <a:t>Dependent categories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967728" y="5093208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119872" y="5065776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call records, location, customer file, consent status.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658368" y="5870448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1020"/>
                </a:solidFill>
              </a:rPr>
              <a:t>Research use: turn each visible row into a rule seed, then expand with catalog data, policy requirements, and incident experience.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Toxicity scoring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Score the relationship, not just the field. This supports consistent enforcement across databases, reports, files, and AI pipelines.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Base Sensitivity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2237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EAF2FF"/>
                </a:solidFill>
              </a:rPr>
              <a:t>Category weight: PD, EPD, PII, PHI, PCI, Prop Info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53288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Linkage Power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296265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EAF2FF"/>
                </a:solidFill>
              </a:rPr>
              <a:t>Can it identify or join to a person, account, entity, or system?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477316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7492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Exploitability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520293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EAF2FF"/>
                </a:solidFill>
              </a:rPr>
              <a:t>Could it enable account takeover, fraud, targeting, or IP compromise?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01344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Context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44321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EAF2FF"/>
                </a:solidFill>
              </a:rPr>
              <a:t>Same row, same file, same export, same model, same access path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925372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55548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349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Scale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68349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EAF2FF"/>
                </a:solidFill>
              </a:rPr>
              <a:t>Record count, uniqueness, population size, external recipients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14400" y="3429000"/>
            <a:ext cx="102412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3886200"/>
            <a:ext cx="23774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0-24  Low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474720" y="3886200"/>
            <a:ext cx="23774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25-49  Moderate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035040" y="3886200"/>
            <a:ext cx="237744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50-74  High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595360" y="3886200"/>
            <a:ext cx="2377440" cy="502920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75-100  Critical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6868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Recommended rule: any combination containing PCI + identity, PHI + identity, credential + identifier, or government ID + identity should default to High or Critical until reviewed.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uplift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the matrix classification as the starting point, then elevate when toxic combinations or sensitive contexts appear.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94767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06240" y="176479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No toxic pair, low linkage, approved business use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Confidential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318211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06240" y="299923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Sensitive business or personal context; controlled sharing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4340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Restricted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441655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06240" y="423367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Direct identifiers, credentials, PCI, PHI, government IDs, toxic pair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605272"/>
            <a:ext cx="10104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991B1B"/>
                </a:solidFill>
              </a:rPr>
              <a:t>Uplift principle: “Dependent” does not mean low risk. It means the engine must look for the other field, relationship, or use case that activates the sensitivity.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Toxicity heatmap for categories and groupings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This draft heatmap translates your matrix categories into combination risk priorities.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1481328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Category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PD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2900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EPD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PII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8076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PHI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PCI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3252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020"/>
                </a:solidFill>
              </a:rPr>
              <a:t>Prop Info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18541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Personal Financial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05740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280" y="207568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07568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60920" y="2075688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8680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27157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Digital Identifiers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057400" y="2606040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2606040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6092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0" y="2606040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" y="324612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Govt ID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057400" y="3136392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83280" y="3136392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136392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3136392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60920" y="3136392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86800" y="3136392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" y="377647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Employment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205740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5740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8328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3666744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35040" y="3666744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36092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686800" y="3666744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4360" y="4306824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IP / Source Code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2057400" y="4197096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383280" y="4197096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4197096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035040" y="4197096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60920" y="4197096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6092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686800" y="4197096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94360" y="483717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Third Party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2057400" y="472744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5740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38328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8328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0916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035040" y="472744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6092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686800" y="4727448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8680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0195560" y="1965960"/>
            <a:ext cx="2926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25328" y="1993392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1 Low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10195560" y="2404872"/>
            <a:ext cx="29260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625328" y="2432304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3 High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10195560" y="2843784"/>
            <a:ext cx="292608" cy="201168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25328" y="2871216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5 Critical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9921240" y="3794760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020"/>
                </a:solidFill>
              </a:rPr>
              <a:t>High-priority rule targets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9948672" y="4160520"/>
            <a:ext cx="15544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40" dirty="0">
                <a:solidFill>
                  <a:srgbClr val="334155"/>
                </a:solidFill>
              </a:rPr>
              <a:t>Government ID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Digital identifier + secret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PCI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PHI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Source code + secrets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 patterns by data grouping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Data Grouping tells you which combinations to test first because it captures business context.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Personal Financial Information</a:t>
            </a:r>
            <a:endParaRPr lang="en-US" sz="890" dirty="0"/>
          </a:p>
        </p:txBody>
      </p:sp>
      <p:sp>
        <p:nvSpPr>
          <p:cNvPr id="7" name="Shape 5"/>
          <p:cNvSpPr/>
          <p:nvPr/>
        </p:nvSpPr>
        <p:spPr>
          <a:xfrm>
            <a:off x="3794760" y="1691640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983480" y="1545336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Account balance + name/member ID + income/account number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77240" y="2322576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78024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Online / Digital Identifiers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3794760" y="2551176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83480" y="2404872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User ID + password/PIN + email/device/MFA signal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37560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Government-issued Identifiers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3794760" y="3410712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983480" y="3264408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A-number/SSN/passport + name + DOB/address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77240" y="404164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Intellectual Property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3794760" y="4270248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83480" y="4123944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Source code + secrets + architecture + vulnerability notes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77240" y="490118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56632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Third Party Information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794760" y="5129784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983480" y="4983480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ANI/call metadata + customer identity + consent 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77240" y="5623560"/>
            <a:ext cx="105156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751576"/>
            <a:ext cx="101041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65F46"/>
                </a:solidFill>
              </a:rPr>
              <a:t>Best practice: prioritize groupings that combine identity, authentication, financial value, health context, government identifiers, or proprietary assets.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architecture: toxic-pair detection engine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design combines discovery, classification, graph relationships, scoring, and automated control actions.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47088"/>
            <a:ext cx="1700784" cy="109728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Discover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5836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DBs, files, SaaS, data lakes, reports, code repos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423160" y="1847088"/>
            <a:ext cx="1700784" cy="109728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Normalize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57860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Schema, column names, content samples, lineage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4343400" y="1847088"/>
            <a:ext cx="1700784" cy="109728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Classify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49884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Matrix tags + SIT/regex + ML + metadata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263640" y="1847088"/>
            <a:ext cx="1700784" cy="1097280"/>
          </a:xfrm>
          <a:prstGeom prst="chevron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Detect pairs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1908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Co-occurrence, joins, lineage, graph edges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8183880" y="1847088"/>
            <a:ext cx="1700784" cy="109728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Score risk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Sensitivity + linkage + exploitability + scale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10104120" y="1847088"/>
            <a:ext cx="1700784" cy="1097280"/>
          </a:xfrm>
          <a:prstGeom prst="chevron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Enforce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25956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EFF6FF"/>
                </a:solidFill>
              </a:rPr>
              <a:t>Mask, block, encrypt, tokenize, approve, alert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1024128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Policy rule store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182112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Taxonomy matrix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5084064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Graph store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986016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Evidence log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887968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0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Control APIs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1097280" y="4956048"/>
            <a:ext cx="9875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The rule store should include explicit “activation conditions” for fields marked Dependent in the matrix.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strategy: rules plus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Rules are explainable. ML expands coverage. Graph analysis finds combinations that field-by-field scanning misses.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306324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Deterministic rules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Regex and sensitive information types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Exact data match dictionaries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Field-name and table-name context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Low false positive for known elements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54480"/>
            <a:ext cx="3063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Machine learning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NER/entity recognition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Embeddings for semantic field names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Classifier trained on labeled columns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Finds variants and hidden synonyms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554480"/>
            <a:ext cx="3063240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Graph analytics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Field-to-field co-occurrence edges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Lineage and join path discovery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Risk propagation across datasets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Explains “why toxic” to auditors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7240" y="5779008"/>
            <a:ext cx="10652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020"/>
                </a:solidFill>
              </a:rPr>
              <a:t>Recommended operating model: use deterministic rules for enforcement decisions, and ML/graph analysis to recommend new rules, identify drift, and rank review queues.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model for toxic combinations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Toxic-pair analysis becomes clearer when data elements are nodes and risky relationships are edges.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6925" y="1941975"/>
            <a:ext cx="361428" cy="-10630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07042" y="2313122"/>
            <a:ext cx="381792" cy="13475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2112264"/>
            <a:ext cx="223113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16168" y="2112264"/>
            <a:ext cx="67665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19996" y="1972480"/>
            <a:ext cx="710474" cy="-169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53144" y="2258568"/>
            <a:ext cx="0" cy="-237744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18222" y="2449000"/>
            <a:ext cx="298636" cy="-111989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17320" y="187452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Name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2971800" y="141732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5819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DOB</a:t>
            </a:r>
            <a:endParaRPr lang="en-US" sz="56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58775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Address</a:t>
            </a:r>
            <a:endParaRPr lang="en-US" sz="560" dirty="0"/>
          </a:p>
        </p:txBody>
      </p:sp>
      <p:sp>
        <p:nvSpPr>
          <p:cNvPr id="18" name="Shape 16"/>
          <p:cNvSpPr/>
          <p:nvPr/>
        </p:nvSpPr>
        <p:spPr>
          <a:xfrm>
            <a:off x="4892040" y="1874520"/>
            <a:ext cx="841248" cy="475488"/>
          </a:xfrm>
          <a:prstGeom prst="ellipse">
            <a:avLst/>
          </a:prstGeom>
          <a:solidFill>
            <a:srgbClr val="FFB703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Account Balance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6812280" y="1874520"/>
            <a:ext cx="841248" cy="475488"/>
          </a:xfrm>
          <a:prstGeom prst="ellipse">
            <a:avLst/>
          </a:prstGeom>
          <a:solidFill>
            <a:srgbClr val="14B8A6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Arrangement ID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8732520" y="1417320"/>
            <a:ext cx="841248" cy="475488"/>
          </a:xfrm>
          <a:prstGeom prst="ellipse">
            <a:avLst/>
          </a:prstGeom>
          <a:solidFill>
            <a:srgbClr val="E85D75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5819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Password/PIN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8732520" y="2423160"/>
            <a:ext cx="841248" cy="47548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58775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Device ID</a:t>
            </a:r>
            <a:endParaRPr lang="en-US" sz="560" dirty="0"/>
          </a:p>
        </p:txBody>
      </p:sp>
      <p:sp>
        <p:nvSpPr>
          <p:cNvPr id="26" name="Shape 24"/>
          <p:cNvSpPr/>
          <p:nvPr/>
        </p:nvSpPr>
        <p:spPr>
          <a:xfrm>
            <a:off x="10195560" y="1874520"/>
            <a:ext cx="841248" cy="475488"/>
          </a:xfrm>
          <a:prstGeom prst="ellipse">
            <a:avLst/>
          </a:prstGeom>
          <a:solidFill>
            <a:srgbClr val="334155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Source Code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960120" y="3886200"/>
            <a:ext cx="101955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Graph use cases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4096512"/>
            <a:ext cx="74066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80" dirty="0">
                <a:solidFill>
                  <a:srgbClr val="334155"/>
                </a:solidFill>
              </a:rPr>
              <a:t>Find datasets where low-risk elements form a re-identification path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Show why a report, model input, or export was escalated to Restricted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Identify “bridge” fields such as Arrangement ID that join multiple domains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Recommend tokenization or row-level access at the highest-risk edge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by risk band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Controls should be driven by toxic risk, not by field name alone.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057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55064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Low / Internal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3063240" y="1600200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Catalog only, basic access control, retention alignment, monitoring.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205740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88336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Moderate / Confidential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063240" y="2633472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Masking, purpose-based access, DLP alerting, approval workflow.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85800" y="3483864"/>
            <a:ext cx="2057400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21608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High / Restricted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3063240" y="3666744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Tokenization, encryption, row/column controls, export blocking, legal/privacy review.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85800" y="4517136"/>
            <a:ext cx="2057400" cy="658368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54880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Critical / Restricted+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3063240" y="4700016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Block by default, break-glass access, redaction, model-training exclusion, incident review.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020"/>
                </a:solidFill>
              </a:rPr>
              <a:t>Default control expectation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063240" y="5678424"/>
            <a:ext cx="7863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Any credential, government identifier, PCI, PHI, or high-linkage toxic pair should trigger Restricted handling unless an approved exception exists.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design for an advanced classification tool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your matrix as labels, features, and rule seeds for a sensitive-data classification platform.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6362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4ED8"/>
                </a:solidFill>
              </a:rPr>
              <a:t>Inputs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984248" y="152704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Column names, samples, data profiling, metadata, lineage, access logs, user-provided matrix.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2374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4ED8"/>
                </a:solidFill>
              </a:rPr>
              <a:t>Feature layer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984248" y="248716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String patterns, semantic embeddings, dictionary hits, category matches, co-occurrence statistics.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8386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4ED8"/>
                </a:solidFill>
              </a:rPr>
              <a:t>Models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984248" y="344728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Column classifier, entity recognition, pair-risk classifier, graph anomaly ranking.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4398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4ED8"/>
                </a:solidFill>
              </a:rPr>
              <a:t>Outputs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984248" y="440740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Category, classification, toxic pair reason, confidence, recommended control, evidence.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03520" y="3182112"/>
            <a:ext cx="114300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29400" y="141732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Guardrails for AI classification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240280"/>
            <a:ext cx="35204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334155"/>
                </a:solidFill>
              </a:rPr>
              <a:t>Human approval for new enforcement rules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Confidence threshold by classification tier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No sensitive samples stored without masking/tokenization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Explainable reason codes for every toxic pair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Drift monitoring as schemas and business terms change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Evaluation set with known false positives and false negatives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Make toxic-pair detection a repeatable governance capability, not a one-time spreadsheet exercise.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37360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Policy intake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Define categories, legal drivers, classification tiers.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8600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Taxonomy curation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Maintain data elements, groupings, owners, examples.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434840" y="1737360"/>
            <a:ext cx="658368" cy="6583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20624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Rule design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11480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Create toxic pairs, thresholds, and exceptions.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658368" cy="658368"/>
          </a:xfrm>
          <a:prstGeom prst="ellipse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2648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Testing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603504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 precision/recall with real datasets and SMEs.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275320" y="173736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4672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Enforcement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79552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Deploy controls to DLP, DSPM, IAM, data platforms.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195560" y="1737360"/>
            <a:ext cx="658368" cy="6583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B1020"/>
                </a:solidFill>
              </a:rPr>
              <a:t>Review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987552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Recertify, audit, tune false positives, monitor drift.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68680" y="5029200"/>
            <a:ext cx="10378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285232"/>
            <a:ext cx="1234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020"/>
                </a:solidFill>
              </a:rPr>
              <a:t>Decision rights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60320" y="5202936"/>
            <a:ext cx="8275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Security owns technical controls. Privacy/Legal validates regulatory interpretation. Data owners approve business context. Engineering implements enforcement. Internal audit validates evidence.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and evidence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Measure reduction in risky combinations, not just the number of classified fields.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4ED8"/>
                </a:solidFill>
              </a:rPr>
              <a:t>100%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datasets scanned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063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B8A6"/>
                </a:solidFill>
              </a:rPr>
              <a:t>≥90%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toxic pairs validated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349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B703"/>
                </a:solidFill>
              </a:rPr>
              <a:t>&lt;7d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49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critical exposure MTTR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635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85D75"/>
                </a:solidFill>
              </a:rPr>
              <a:t>&lt;15%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false positive rate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921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C3AED"/>
                </a:solidFill>
              </a:rPr>
              <a:t>100%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921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rules with owner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10241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169664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Recommended evidence retained per finding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60350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70" dirty="0">
                <a:solidFill>
                  <a:srgbClr val="334155"/>
                </a:solidFill>
              </a:rPr>
              <a:t>data element names and groupings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detected categories and classifications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combination rule ID and risk score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sample-safe evidence and location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control action and approval/exception history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phased roadmap lets the team deliver quick wins while building a mature SDM capability.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45920"/>
            <a:ext cx="24231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0-30 days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Load the 267-row matrix, normalize category values, define Restricted uplift rules, prioritize top 20 toxic pairs.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502152" y="1645920"/>
            <a:ext cx="24231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31-60 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0215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Build scanners, dictionaries, rule engine, evidence log, and risk score API. Validate against files, tables, and reports.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291072" y="1645920"/>
            <a:ext cx="242316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61-90 days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Controls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4710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Integrate DLP/DSPM/IAM controls, masking/tokenization, workflow approvals, exceptions, and dashboards.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079992" y="1645920"/>
            <a:ext cx="2423160" cy="457200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90+ days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999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AI maturity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3602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Add ML suggestions, graph lineage, drift monitoring, model-training controls, and continuous recertification.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020"/>
                </a:solidFill>
              </a:rPr>
              <a:t>First sprint recommendation: start with toxic combinations that contain credentials, government identifiers, PCI, PHI, account balance, arrangement/customer identifiers, and source code secrets.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Ready-to-use delivery backlog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Example epics and sprint stories for building the toxic-pair capability into your search/query web application.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057400" y="152704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Taxonomy ingestion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80560" y="149047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As a data steward, I can load the classification matrix and maintain data elements, groupings, categories, and classifications.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2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057400" y="239572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Toxic rule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235915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As a security analyst, I can define toxic pairs with activation conditions, risk score, confidence, and recommended control.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9184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3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57400" y="326440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Search and query UI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322783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As a user, I can search data elements and see category, classification, toxic-pair warnings, and handling guidance.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057400" y="413308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Evidence and audit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09651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As an auditor, I can review why a dataset was escalated, who approved it, and which control was triggered.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2920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5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57400" y="500176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AI recommendations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496519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As a classifier owner, I can review ML-suggested toxic combinations before promotion to enforceable rules.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fastest path to maturity is to convert your matrix into a combination-aware policy engine.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676656" cy="6766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8288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Keep the matrix as source of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947672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It already has the needed fields: element, grouping, category, classification, and dependent values.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14400" y="3822192"/>
            <a:ext cx="676656" cy="6766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4050792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Create a toxic-pair rule 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4169664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Each rule should define ingredients, trigger context, risk band, control, owner, evidence, and exception path.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676656" cy="67665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8288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Automate classification uplift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1947672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Move Internal or Confidential data to Restricted when combinations activate high-risk scenarios.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00800" y="3822192"/>
            <a:ext cx="676656" cy="676656"/>
          </a:xfrm>
          <a:prstGeom prst="ellipse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4050792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</a:rPr>
              <a:t>Use AI carefully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4169664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Use ML to discover and recommend; keep high-impact enforcement decisions explainable and reviewable.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source anchors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these sources to map policy statements, controls, and regulatory interpretations.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60704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40" dirty="0">
                <a:solidFill>
                  <a:srgbClr val="334155"/>
                </a:solidFill>
              </a:rPr>
              <a:t>NIST SP 800-122, Guide to Protecting the Confidentiality of Personally Identifiable Information (PII)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NIST Privacy Framework and NIST AI Risk Management Framework 1.0 / Generative AI Profile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HHS OCR HIPAA De-identification Guidance and 18 identifiers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PCI Security Standards Council, PCI DSS v4.0.1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GDPR Article 9 and ICO guidance on special category data, anonymisation, and pseudonymisation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CISA Zero Trust Maturity Model v2.0 and data pillar guidance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Microsoft Purview data classification, sensitive information types, exact data match, and trainable classifiers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Google Cloud Sensitive Data Protection infoTypes, custom detectors, dictionaries, and structured text inspection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OWASP Top 10 for LLM Applications 2025, Sensitive Information Disclosure and training-data leakage scenarios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User-provided classification matrix screenshot, used as the enterprise taxonomy baseline for this deck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Toxic Data Combinations Research</dc:title>
  <dc:subject>Sensitive Data Management and Data Classification Research</dc:subject>
  <dc:creator>OpenAI</dc:creator>
  <cp:lastModifiedBy>OpenAI</cp:lastModifiedBy>
  <cp:revision>1</cp:revision>
  <dcterms:created xsi:type="dcterms:W3CDTF">2026-05-11T13:50:47Z</dcterms:created>
  <dcterms:modified xsi:type="dcterms:W3CDTF">2026-05-11T13:50:47Z</dcterms:modified>
</cp:coreProperties>
</file>